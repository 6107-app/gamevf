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3474720" cy="3474720"/>
          </a:xfrm>
          <a:prstGeom prst="ellipse">
            <a:avLst/>
          </a:prstGeom>
          <a:solidFill>
            <a:srgbClr val="FF7B6B">
              <a:alpha val="18000"/>
            </a:srgbClr>
          </a:solidFill>
          <a:ln w="12700">
            <a:solidFill>
              <a:srgbClr val="FF7B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108960"/>
            <a:ext cx="2011680" cy="2011680"/>
          </a:xfrm>
          <a:prstGeom prst="ellipse">
            <a:avLst/>
          </a:prstGeom>
          <a:solidFill>
            <a:srgbClr val="FFB3A9">
              <a:alpha val="12000"/>
            </a:srgbClr>
          </a:solidFill>
          <a:ln w="12700">
            <a:solidFill>
              <a:srgbClr val="FFB3A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F7B6B"/>
          </a:solidFill>
          <a:ln w="12700">
            <a:solidFill>
              <a:srgbClr val="FF7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BLOCKCHAIN  ·  GAME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7B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DeepCast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On-Chain Competitive Fishing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with Live Prediction Market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5029200" cy="36576"/>
          </a:xfrm>
          <a:prstGeom prst="rect">
            <a:avLst/>
          </a:prstGeom>
          <a:solidFill>
            <a:srgbClr val="E85D4A">
              <a:alpha val="60000"/>
            </a:srgbClr>
          </a:solidFill>
          <a:ln w="12700">
            <a:solidFill>
              <a:srgbClr val="E85D4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00400"/>
            <a:ext cx="2606040" cy="157276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E85D4A">
                <a:alpha val="4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327355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B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Compete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98678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Up to 4 players per room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across 4 prize tiers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91840" y="3200400"/>
            <a:ext cx="2606040" cy="157276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E85D4A">
                <a:alpha val="40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327355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B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Randomness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91840" y="398678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VRF-powered fish rarity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&amp; weight on-chain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26480" y="3200400"/>
            <a:ext cx="2606040" cy="157276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E85D4A">
                <a:alpha val="4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327355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B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Predict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26480" y="398678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Spectators bet on winners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with time-weighted odds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548640"/>
            <a:ext cx="1645920" cy="1645920"/>
          </a:xfrm>
          <a:prstGeom prst="ellipse">
            <a:avLst/>
          </a:prstGeom>
          <a:solidFill>
            <a:srgbClr val="FF7B6B">
              <a:alpha val="12000"/>
            </a:srgbClr>
          </a:solidFill>
          <a:ln w="12700">
            <a:solidFill>
              <a:srgbClr val="FF7B6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Smart Contracts  (Solidity · Sepolia)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61288"/>
            <a:ext cx="73152" cy="1115568"/>
          </a:xfrm>
          <a:prstGeom prst="rect">
            <a:avLst/>
          </a:prstGeom>
          <a:solidFill>
            <a:srgbClr val="FF7B6B"/>
          </a:solidFill>
          <a:ln w="12700">
            <a:solidFill>
              <a:srgbClr val="FF7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161288"/>
            <a:ext cx="37490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F5EDD8"/>
            </a:solidFill>
            <a:prstDash val="solid"/>
          </a:ln>
          <a:effectLst>
            <a:outerShdw sx="100000" sy="100000" kx="0" ky="0" algn="bl" rotWithShape="0" blurRad="127000" dist="38100" dir="8100000">
              <a:srgbClr val="5C3D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1225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FishingGame.sol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" y="14996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Room management &amp; tiers (Bronze→Diamond)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3504" y="17373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VRF randomness → fish rarity + weight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3504" y="1975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Cast / Recast / LockIn / Settle flow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73152" cy="1115568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350008"/>
            <a:ext cx="37490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F5EDD8"/>
            </a:solidFill>
            <a:prstDash val="solid"/>
          </a:ln>
          <a:effectLst>
            <a:outerShdw sx="100000" sy="100000" kx="0" ky="0" algn="bl" rotWithShape="0" blurRad="127000" dist="38100" dir="8100000">
              <a:srgbClr val="5C3D2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2414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PredictionMarket.sol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" y="268833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Time-weighted betting (weight 100→10)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" y="29260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Permissionless settleBets() post-game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" y="31638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5% platform fee  ·  30-day claim window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538728"/>
            <a:ext cx="73152" cy="1115568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538728"/>
            <a:ext cx="37490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F5EDD8"/>
            </a:solidFill>
            <a:prstDash val="solid"/>
          </a:ln>
          <a:effectLst>
            <a:outerShdw sx="100000" sy="100000" kx="0" ky="0" algn="bl" rotWithShape="0" blurRad="127000" dist="38100" dir="8100000">
              <a:srgbClr val="5C3D2E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FishingRod.sol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" y="38770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ERC-721 NFT with durability &amp; rarity tier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" y="41148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Durability decreases on each cast action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" y="43525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Room entry gated by matching rod tier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Frontend  (Next.js 16 · ethers.js v6)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161288"/>
            <a:ext cx="39319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F5EDD8"/>
            </a:solidFill>
            <a:prstDash val="solid"/>
          </a:ln>
          <a:effectLst>
            <a:outerShdw sx="100000" sy="100000" kx="0" ky="0" algn="bl" rotWithShape="0" blurRad="127000" dist="38100" dir="8100000">
              <a:srgbClr val="5C3D2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82896" y="1362456"/>
            <a:ext cx="457200" cy="457200"/>
          </a:xfrm>
          <a:prstGeom prst="ellipse">
            <a:avLst/>
          </a:prstGeom>
          <a:solidFill>
            <a:srgbClr val="F5EDD8"/>
          </a:solidFill>
          <a:ln w="12700">
            <a:solidFill>
              <a:srgbClr val="F5EDD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1426464"/>
            <a:ext cx="256032" cy="25603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40680" y="12527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Game Room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40680" y="1545336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/game/[roomId]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Cast · Recast · LockIn via MetaMask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54880" y="2386584"/>
            <a:ext cx="39319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F5EDD8"/>
            </a:solidFill>
            <a:prstDash val="solid"/>
          </a:ln>
          <a:effectLst>
            <a:outerShdw sx="100000" sy="100000" kx="0" ky="0" algn="bl" rotWithShape="0" blurRad="127000" dist="38100" dir="8100000">
              <a:srgbClr val="5C3D2E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882896" y="2587752"/>
            <a:ext cx="457200" cy="457200"/>
          </a:xfrm>
          <a:prstGeom prst="ellipse">
            <a:avLst/>
          </a:prstGeom>
          <a:solidFill>
            <a:srgbClr val="F5EDD8"/>
          </a:solidFill>
          <a:ln w="12700">
            <a:solidFill>
              <a:srgbClr val="F5EDD8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651760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440680" y="24780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Spectator View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440680" y="27706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/spectator/[roomId]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Real-time events · live odds · place bets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754880" y="3611880"/>
            <a:ext cx="39319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F5EDD8"/>
            </a:solidFill>
            <a:prstDash val="solid"/>
          </a:ln>
          <a:effectLst>
            <a:outerShdw sx="100000" sy="100000" kx="0" ky="0" algn="bl" rotWithShape="0" blurRad="127000" dist="38100" dir="8100000">
              <a:srgbClr val="5C3D2E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4882896" y="3813048"/>
            <a:ext cx="457200" cy="457200"/>
          </a:xfrm>
          <a:prstGeom prst="ellipse">
            <a:avLst/>
          </a:prstGeom>
          <a:solidFill>
            <a:srgbClr val="F5EDD8"/>
          </a:solidFill>
          <a:ln w="12700">
            <a:solidFill>
              <a:srgbClr val="F5EDD8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3877056"/>
            <a:ext cx="256032" cy="25603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440680" y="3703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Settlement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5440680" y="399592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/settlement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Winner reveal · prize claim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4096512" y="2514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◀  ethers.js  ▶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Demonstration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029200" cy="3840480"/>
          </a:xfrm>
          <a:prstGeom prst="rect">
            <a:avLst/>
          </a:prstGeom>
          <a:solidFill>
            <a:srgbClr val="5C3D2E"/>
          </a:solidFill>
          <a:ln w="12700">
            <a:solidFill>
              <a:srgbClr val="8B6355"/>
            </a:solidFill>
            <a:prstDash val="solid"/>
          </a:ln>
          <a:effectLst>
            <a:outerShdw sx="100000" sy="100000" kx="0" ky="0" algn="bl" rotWithShape="0" blurRad="127000" dist="38100" dir="8100000">
              <a:srgbClr val="5C3D2E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5029200" cy="320040"/>
          </a:xfrm>
          <a:prstGeom prst="rect">
            <a:avLst/>
          </a:prstGeom>
          <a:solidFill>
            <a:srgbClr val="8B6355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● ● ●    deepcast.app/spectator/42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7B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 Alice.eth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0" y="1371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7B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2,840 pts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4663440" cy="91440"/>
          </a:xfrm>
          <a:prstGeom prst="rect">
            <a:avLst/>
          </a:prstGeom>
          <a:solidFill>
            <a:srgbClr val="8B6355">
              <a:alpha val="40000"/>
            </a:srgbClr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64208"/>
            <a:ext cx="4197096" cy="91440"/>
          </a:xfrm>
          <a:prstGeom prst="rect">
            <a:avLst/>
          </a:prstGeom>
          <a:solidFill>
            <a:srgbClr val="FF7B6B"/>
          </a:solidFill>
          <a:ln w="12700">
            <a:solidFill>
              <a:srgbClr val="FF7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 Bob.eth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0116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2,410 pts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4663440" cy="91440"/>
          </a:xfrm>
          <a:prstGeom prst="rect">
            <a:avLst/>
          </a:prstGeom>
          <a:solidFill>
            <a:srgbClr val="8B6355">
              <a:alpha val="40000"/>
            </a:srgbClr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304288"/>
            <a:ext cx="3544214" cy="9144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51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 Carol.eth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6517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1,990 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944368"/>
            <a:ext cx="4663440" cy="91440"/>
          </a:xfrm>
          <a:prstGeom prst="rect">
            <a:avLst/>
          </a:prstGeom>
          <a:solidFill>
            <a:srgbClr val="8B6355">
              <a:alpha val="40000"/>
            </a:srgbClr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944368"/>
            <a:ext cx="2937967" cy="91440"/>
          </a:xfrm>
          <a:prstGeom prst="rect">
            <a:avLst/>
          </a:prstGeom>
          <a:solidFill>
            <a:srgbClr val="A8B8C8"/>
          </a:solidFill>
          <a:ln w="12700">
            <a:solidFill>
              <a:srgbClr val="A8B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91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 Dave.eth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32918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1,120 pts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584448"/>
            <a:ext cx="4663440" cy="91440"/>
          </a:xfrm>
          <a:prstGeom prst="rect">
            <a:avLst/>
          </a:prstGeom>
          <a:solidFill>
            <a:srgbClr val="8B6355">
              <a:alpha val="40000"/>
            </a:srgbClr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584448"/>
            <a:ext cx="1632204" cy="91440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77640"/>
            <a:ext cx="4754880" cy="658368"/>
          </a:xfrm>
          <a:prstGeom prst="rect">
            <a:avLst/>
          </a:prstGeom>
          <a:solidFill>
            <a:srgbClr val="E85D4A">
              <a:alpha val="70000"/>
            </a:srgbClr>
          </a:solidFill>
          <a:ln w="6350">
            <a:solidFill>
              <a:srgbClr val="FF7B6B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05840" y="40050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DF8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Bet on Alice.eth  —  0.05 ETH  →  Confirm with MetaMask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0" y="841248"/>
            <a:ext cx="420624" cy="420624"/>
          </a:xfrm>
          <a:prstGeom prst="ellipse">
            <a:avLst/>
          </a:prstGeom>
          <a:solidFill>
            <a:srgbClr val="FF7B6B"/>
          </a:solidFill>
          <a:ln w="12700">
            <a:solidFill>
              <a:srgbClr val="FF7B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0" y="841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99632" y="8412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Verify Rod Ownership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199632" y="113385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Player must hold a matching NFT rod.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Game validates rod tier on-chain before entry.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870448" y="1280160"/>
            <a:ext cx="36576" cy="548640"/>
          </a:xfrm>
          <a:prstGeom prst="rect">
            <a:avLst/>
          </a:prstGeom>
          <a:solidFill>
            <a:srgbClr val="FFB3A9"/>
          </a:solidFill>
          <a:ln w="12700">
            <a:solidFill>
              <a:srgbClr val="FFB3A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69280" y="1819656"/>
            <a:ext cx="420624" cy="420624"/>
          </a:xfrm>
          <a:prstGeom prst="ellipse">
            <a:avLst/>
          </a:prstGeom>
          <a:solidFill>
            <a:srgbClr val="FF7B6B"/>
          </a:solidFill>
          <a:ln w="12700">
            <a:solidFill>
              <a:srgbClr val="FF7B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69280" y="1819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199632" y="18196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Create &amp; Join Room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199632" y="2112264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Host picks a tier, pays entry fee.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Up to 4 players join via MetaMask.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870448" y="2258568"/>
            <a:ext cx="36576" cy="548640"/>
          </a:xfrm>
          <a:prstGeom prst="rect">
            <a:avLst/>
          </a:prstGeom>
          <a:solidFill>
            <a:srgbClr val="FFB3A9"/>
          </a:solidFill>
          <a:ln w="12700">
            <a:solidFill>
              <a:srgbClr val="FFB3A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669280" y="2798064"/>
            <a:ext cx="420624" cy="420624"/>
          </a:xfrm>
          <a:prstGeom prst="ellipse">
            <a:avLst/>
          </a:prstGeom>
          <a:solidFill>
            <a:srgbClr val="FF7B6B"/>
          </a:solidFill>
          <a:ln w="12700">
            <a:solidFill>
              <a:srgbClr val="FF7B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6928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199632" y="27980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Fish in Real Time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199632" y="309067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Cast rod → VRF returns rarity &amp; weight.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Chain events stream to spectator feed.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870448" y="3236976"/>
            <a:ext cx="36576" cy="548640"/>
          </a:xfrm>
          <a:prstGeom prst="rect">
            <a:avLst/>
          </a:prstGeom>
          <a:solidFill>
            <a:srgbClr val="FFB3A9"/>
          </a:solidFill>
          <a:ln w="12700">
            <a:solidFill>
              <a:srgbClr val="FFB3A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669280" y="3776472"/>
            <a:ext cx="420624" cy="420624"/>
          </a:xfrm>
          <a:prstGeom prst="ellipse">
            <a:avLst/>
          </a:prstGeom>
          <a:solidFill>
            <a:srgbClr val="FF7B6B"/>
          </a:solidFill>
          <a:ln w="12700">
            <a:solidFill>
              <a:srgbClr val="FF7B6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6928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199632" y="37764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Bet &amp; Claim Prizes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199632" y="4069080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Spectators pick a winner.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Time-weight rewards early bettors more.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Technical Deep Dive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Key Innovation: Time-Weighted Prediction Market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8412480" cy="960120"/>
          </a:xfrm>
          <a:prstGeom prst="rect">
            <a:avLst/>
          </a:prstGeom>
          <a:solidFill>
            <a:srgbClr val="5C3D2E"/>
          </a:solidFill>
          <a:ln w="12700">
            <a:solidFill>
              <a:srgbClr val="8B6355"/>
            </a:solidFill>
            <a:prstDash val="solid"/>
          </a:ln>
          <a:effectLst>
            <a:outerShdw sx="100000" sy="100000" kx="0" ky="0" algn="bl" rotWithShape="0" blurRad="127000" dist="38100" dir="8100000">
              <a:srgbClr val="5C3D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timeWeight</a:t>
            </a:r>
            <a:pPr algn="ctr"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MAX( 10,  100 − elapsed × 0.5 )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payout</a:t>
            </a:r>
            <a:pPr algn="ctr" indent="0" marL="0">
              <a:buNone/>
            </a:pPr>
            <a:r>
              <a:rPr lang="en-US" sz="1400" dirty="0">
                <a:solidFill>
                  <a:srgbClr val="FDF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prizePool  ×  ( myWeighted / totalWeighted 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269748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5EDD8"/>
            </a:solidFill>
            <a:prstDash val="solid"/>
          </a:ln>
          <a:effectLst>
            <a:outerShdw sx="100000" sy="100000" kx="0" ky="0" algn="bl" rotWithShape="0" blurRad="127000" dist="38100" dir="8100000">
              <a:srgbClr val="5C3D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286000"/>
            <a:ext cx="2697480" cy="54864"/>
          </a:xfrm>
          <a:prstGeom prst="rect">
            <a:avLst/>
          </a:prstGeom>
          <a:solidFill>
            <a:srgbClr val="FF7B6B"/>
          </a:solidFill>
          <a:ln w="12700">
            <a:solidFill>
              <a:srgbClr val="FF7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35608" y="2395728"/>
            <a:ext cx="420624" cy="420624"/>
          </a:xfrm>
          <a:prstGeom prst="ellipse">
            <a:avLst/>
          </a:prstGeom>
          <a:solidFill>
            <a:srgbClr val="FF7B6B">
              <a:alpha val="80000"/>
            </a:srgbClr>
          </a:solidFill>
          <a:ln w="12700">
            <a:solidFill>
              <a:srgbClr val="FF7B6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248716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75488" y="28712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Early Bird Advantage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2369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Weight decays 100→10 over 180 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35844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Betting first 30 s = 4× late-bet weight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39319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Incentivises engagement from kickoff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18688" y="2286000"/>
            <a:ext cx="269748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5EDD8"/>
            </a:solidFill>
            <a:prstDash val="solid"/>
          </a:ln>
          <a:effectLst>
            <a:outerShdw sx="100000" sy="100000" kx="0" ky="0" algn="bl" rotWithShape="0" blurRad="127000" dist="38100" dir="8100000">
              <a:srgbClr val="5C3D2E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18688" y="2286000"/>
            <a:ext cx="2697480" cy="54864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88536" y="2395728"/>
            <a:ext cx="420624" cy="420624"/>
          </a:xfrm>
          <a:prstGeom prst="ellipse">
            <a:avLst/>
          </a:prstGeom>
          <a:solidFill>
            <a:srgbClr val="B39DDB">
              <a:alpha val="80000"/>
            </a:srgbClr>
          </a:solidFill>
          <a:ln w="12700">
            <a:solidFill>
              <a:srgbClr val="B39DD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487168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28416" y="28712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Security Design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355848" y="32369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ReentrancyGuard on all ETH transfers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355848" y="35844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Checks-Effects-Interactions pattern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355848" y="39319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Pausable emergency stop by owner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071616" y="2286000"/>
            <a:ext cx="269748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5EDD8"/>
            </a:solidFill>
            <a:prstDash val="solid"/>
          </a:ln>
          <a:effectLst>
            <a:outerShdw sx="100000" sy="100000" kx="0" ky="0" algn="bl" rotWithShape="0" blurRad="127000" dist="38100" dir="8100000">
              <a:srgbClr val="5C3D2E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71616" y="2286000"/>
            <a:ext cx="269748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141464" y="2395728"/>
            <a:ext cx="420624" cy="420624"/>
          </a:xfrm>
          <a:prstGeom prst="ellipse">
            <a:avLst/>
          </a:prstGeom>
          <a:solidFill>
            <a:srgbClr val="E8C547">
              <a:alpha val="80000"/>
            </a:srgbClr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2487168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81344" y="28712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Permissionless Settle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08776" y="32369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Anyone calls settleBets() post-game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208776" y="35844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Winner read directly from FishingGame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208776" y="39319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8B635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oracle or trusted party needed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C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FF7B6B">
              <a:alpha val="15000"/>
            </a:srgbClr>
          </a:solidFill>
          <a:ln w="12700">
            <a:solidFill>
              <a:srgbClr val="FF7B6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7B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Results &amp; Reflection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2697480" cy="493776"/>
          </a:xfrm>
          <a:prstGeom prst="rect">
            <a:avLst/>
          </a:prstGeom>
          <a:solidFill>
            <a:srgbClr val="A5D6A7">
              <a:alpha val="8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9875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89611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Delivered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481328"/>
            <a:ext cx="2697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1481328"/>
            <a:ext cx="2487168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8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Full on-chain game loop (cast → settle → claim)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286000"/>
            <a:ext cx="2697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" y="2286000"/>
            <a:ext cx="2487168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8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PredictionMarket with time-weighted payouts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090672"/>
            <a:ext cx="2697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3090672"/>
            <a:ext cx="2487168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8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Real-time spectator feed via event listeners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3895344"/>
            <a:ext cx="2697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" y="3895344"/>
            <a:ext cx="2487168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8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Mock fallback mode for dev without contracts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46120" y="896112"/>
            <a:ext cx="2697480" cy="493776"/>
          </a:xfrm>
          <a:prstGeom prst="rect">
            <a:avLst/>
          </a:prstGeom>
          <a:solidFill>
            <a:srgbClr val="E8C547">
              <a:alpha val="80000"/>
            </a:srgbClr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98755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03320" y="89611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246120" y="1481328"/>
            <a:ext cx="2697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55848" y="1481328"/>
            <a:ext cx="2487168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8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VRF timing: RNG latency vs. UI responsiveness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246120" y="2286000"/>
            <a:ext cx="2697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55848" y="2286000"/>
            <a:ext cx="2487168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8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Stale closures in React event listeners (→ useRef)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246120" y="3090672"/>
            <a:ext cx="2697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55848" y="3090672"/>
            <a:ext cx="2487168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8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SWC binary mismatch across dev environments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246120" y="3895344"/>
            <a:ext cx="2697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55848" y="3895344"/>
            <a:ext cx="2487168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8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Cross-module contract interface coordination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126480" y="896112"/>
            <a:ext cx="2697480" cy="493776"/>
          </a:xfrm>
          <a:prstGeom prst="rect">
            <a:avLst/>
          </a:prstGeom>
          <a:solidFill>
            <a:srgbClr val="B39DDB">
              <a:alpha val="80000"/>
            </a:srgbClr>
          </a:solidFill>
          <a:ln w="12700">
            <a:solidFill>
              <a:srgbClr val="B39DD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987552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583680" y="89611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126480" y="1481328"/>
            <a:ext cx="2697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36208" y="1481328"/>
            <a:ext cx="2487168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8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NFT rod attributes as casting power modifiers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126480" y="2286000"/>
            <a:ext cx="2697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236208" y="2286000"/>
            <a:ext cx="2487168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8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Multi-room concurrent spectating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126480" y="3090672"/>
            <a:ext cx="2697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236208" y="3090672"/>
            <a:ext cx="2487168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8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Gasless meta-transactions for casual players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126480" y="3895344"/>
            <a:ext cx="269748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236208" y="3895344"/>
            <a:ext cx="2487168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8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Mainnet deployment after testnet audit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FB3A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DeepCast  ·  Built on Sepolia  ·  Next.js + Solidity + ethers.js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DeepCast — On-Chain Fishing Game</dc:title>
  <dc:subject>PptxGenJS Presentation</dc:subject>
  <dc:creator>PptxGenJS</dc:creator>
  <cp:lastModifiedBy>PptxGenJS</cp:lastModifiedBy>
  <cp:revision>1</cp:revision>
  <dcterms:created xsi:type="dcterms:W3CDTF">2026-05-23T03:58:54Z</dcterms:created>
  <dcterms:modified xsi:type="dcterms:W3CDTF">2026-05-23T03:58:54Z</dcterms:modified>
</cp:coreProperties>
</file>